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D97"/>
    <a:srgbClr val="1A0E18"/>
    <a:srgbClr val="FBD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A0EA7-09A7-43CA-818F-A35ED28CCE94}" v="1" dt="2026-07-09T10:32:12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627" autoAdjust="0"/>
  </p:normalViewPr>
  <p:slideViewPr>
    <p:cSldViewPr snapToGrid="0" snapToObjects="1">
      <p:cViewPr varScale="1">
        <p:scale>
          <a:sx n="73" d="100"/>
          <a:sy n="73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7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stan bien sur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l’utilisateur</a:t>
            </a:r>
            <a:r>
              <a:rPr lang="en-US" dirty="0"/>
              <a:t> decide de passer , il faut </a:t>
            </a:r>
            <a:r>
              <a:rPr lang="en-US" dirty="0" err="1"/>
              <a:t>enregistrer</a:t>
            </a:r>
            <a:r>
              <a:rPr lang="en-US" dirty="0"/>
              <a:t> la session TUTO pour </a:t>
            </a:r>
            <a:r>
              <a:rPr lang="en-US" dirty="0" err="1"/>
              <a:t>qu’il</a:t>
            </a:r>
            <a:r>
              <a:rPr lang="en-US" dirty="0"/>
              <a:t> ai la </a:t>
            </a:r>
            <a:r>
              <a:rPr lang="en-US" dirty="0" err="1"/>
              <a:t>possibilité</a:t>
            </a:r>
            <a:r>
              <a:rPr lang="en-US" dirty="0"/>
              <a:t> de le </a:t>
            </a:r>
            <a:r>
              <a:rPr lang="en-US" dirty="0" err="1"/>
              <a:t>refaire</a:t>
            </a:r>
            <a:r>
              <a:rPr lang="en-US"/>
              <a:t> plus tard.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Decouper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phases , le faire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petites étapes par pages à la premières </a:t>
            </a:r>
            <a:r>
              <a:rPr lang="en-US" dirty="0" err="1"/>
              <a:t>connexion</a:t>
            </a:r>
            <a:r>
              <a:rPr lang="en-US" dirty="0"/>
              <a:t> .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Donner </a:t>
            </a:r>
            <a:r>
              <a:rPr lang="en-US" dirty="0" err="1"/>
              <a:t>l’option</a:t>
            </a:r>
            <a:r>
              <a:rPr lang="en-US" dirty="0"/>
              <a:t> au nouveau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4F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A1730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528816"/>
          </a:xfrm>
          <a:prstGeom prst="rect">
            <a:avLst/>
          </a:prstGeom>
          <a:solidFill>
            <a:srgbClr val="120913"/>
          </a:solidFill>
          <a:ln w="12700">
            <a:solidFill>
              <a:srgbClr val="1209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7FB"/>
                </a:solidFill>
              </a:rPr>
              <a:t>Parcours onboarding Bloop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DDEB"/>
                </a:solidFill>
              </a:rPr>
              <a:t>Deck source pour les developpeurs - creation du premier morceau, publication et decouverte des autres parcours.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 etapes cles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09560" y="914400"/>
            <a:ext cx="3566160" cy="4937760"/>
          </a:xfrm>
          <a:prstGeom prst="roundRect">
            <a:avLst>
              <a:gd name="adj" fmla="val 1538"/>
            </a:avLst>
          </a:prstGeom>
          <a:solidFill>
            <a:srgbClr val="3A1730"/>
          </a:solidFill>
          <a:ln w="1524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Objectif produit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182880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DDEB"/>
                </a:solidFill>
              </a:rPr>
              <a:t>Guider un debutant jusqu'a son premier morceau exporte.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DDEB"/>
                </a:solidFill>
              </a:rPr>
              <a:t>Expliquer les interactions UI a mettre en evidence.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DDEB"/>
                </a:solidFill>
              </a:rPr>
              <a:t>Prevoir les embranchements: rendre public, blog, tuto avance, outils, tout decouvrir.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4160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Style recommande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526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DEB"/>
                </a:solidFill>
              </a:rPr>
              <a:t>Overlay sombre + spotlight rose + tooltip pas a pas + barre de progression de tutoriel.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 d'ensemble du parcours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slides suivantes servent de specification visuelle et fonctionnelle pour l'onboarding.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58368" y="143560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6092" y="147218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435608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Landing page -&gt; acces a l'application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58368" y="211226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6092" y="214884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2112264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Bibliotheque BloopSequencer -&gt; creation d'un projet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58368" y="2788920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6092" y="2825496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788920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Welcome modal -&gt; choix du mode d'onboarding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58368" y="34655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6092" y="35021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3465576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Tuto guide debutant -&gt; composer, ecouter, sauvegarder, exporter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58368" y="41422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6092" y="41788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4142232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Retour bibliotheque -&gt; publication reseau ou post blog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58368" y="48188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36092" y="48554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" y="4818888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Celebration finale + autres parcours disponibles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806440" y="141732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971032" y="1527048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Principe UX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71032" y="1746504"/>
            <a:ext cx="5340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Un seul objectif par etape. Une action a la fois. Texte court, concret, rassurant. Toujours indiquer le prochain </a:t>
            </a:r>
            <a:r>
              <a:rPr lang="en-US" sz="1100" dirty="0" err="1">
                <a:solidFill>
                  <a:srgbClr val="F4DDEB"/>
                </a:solidFill>
              </a:rPr>
              <a:t>clic</a:t>
            </a:r>
            <a:r>
              <a:rPr lang="en-US" sz="1100" dirty="0">
                <a:solidFill>
                  <a:srgbClr val="F4DDEB"/>
                </a:solidFill>
              </a:rPr>
              <a:t> </a:t>
            </a:r>
            <a:r>
              <a:rPr lang="en-US" sz="1100" dirty="0" err="1">
                <a:solidFill>
                  <a:srgbClr val="F4DDEB"/>
                </a:solidFill>
              </a:rPr>
              <a:t>attendu</a:t>
            </a:r>
            <a:r>
              <a:rPr lang="en-US" sz="1100" dirty="0">
                <a:solidFill>
                  <a:srgbClr val="F4DDEB"/>
                </a:solidFill>
              </a:rPr>
              <a:t> avec des cercles de mise </a:t>
            </a:r>
            <a:r>
              <a:rPr lang="en-US" sz="1100" dirty="0" err="1">
                <a:solidFill>
                  <a:srgbClr val="F4DDEB"/>
                </a:solidFill>
              </a:rPr>
              <a:t>en</a:t>
            </a:r>
            <a:r>
              <a:rPr lang="en-US" sz="1100" dirty="0">
                <a:solidFill>
                  <a:srgbClr val="F4DDEB"/>
                </a:solidFill>
              </a:rPr>
              <a:t> evidence des </a:t>
            </a:r>
            <a:r>
              <a:rPr lang="en-US" sz="1100" dirty="0" err="1">
                <a:solidFill>
                  <a:srgbClr val="F4DDEB"/>
                </a:solidFill>
              </a:rPr>
              <a:t>éléments</a:t>
            </a:r>
            <a:r>
              <a:rPr lang="en-US" sz="1100" dirty="0">
                <a:solidFill>
                  <a:srgbClr val="F4DDEB"/>
                </a:solidFill>
              </a:rPr>
              <a:t> </a:t>
            </a:r>
            <a:r>
              <a:rPr lang="en-US" sz="1100" dirty="0" err="1">
                <a:solidFill>
                  <a:srgbClr val="F4DDEB"/>
                </a:solidFill>
              </a:rPr>
              <a:t>concernées</a:t>
            </a:r>
            <a:r>
              <a:rPr lang="en-US" sz="1100" dirty="0">
                <a:solidFill>
                  <a:srgbClr val="F4DDEB"/>
                </a:solidFill>
              </a:rPr>
              <a:t> 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269748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971032" y="2807208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Composants a prevoir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71032" y="3026664"/>
            <a:ext cx="5340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Modal de bienvenue, modal de choix sous format de chat BD ou </a:t>
            </a:r>
            <a:r>
              <a:rPr lang="en-US" sz="1100" dirty="0" err="1">
                <a:solidFill>
                  <a:srgbClr val="F4DDEB"/>
                </a:solidFill>
              </a:rPr>
              <a:t>bulles</a:t>
            </a:r>
            <a:r>
              <a:rPr lang="en-US" sz="1100" dirty="0">
                <a:solidFill>
                  <a:srgbClr val="F4DDEB"/>
                </a:solidFill>
              </a:rPr>
              <a:t> coachmark, spotlight sur zones cliquables, etat succes, confettis, reprise du tutoriel.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3977640"/>
            <a:ext cx="5669280" cy="1325880"/>
          </a:xfrm>
          <a:prstGeom prst="roundRect">
            <a:avLst>
              <a:gd name="adj" fmla="val 4138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971032" y="4087368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Sorties attendues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71032" y="4306824"/>
            <a:ext cx="53400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1) premier morceau cree et exporte, 2) projet eventuellement rendu public, 3) premier post blog possible, 4) options pour continuer apres succes.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2851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Landing page Bloop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115886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d'entree de l'experience avant connexion ou apres retour au site marketing.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6292" y="1755648"/>
            <a:ext cx="4773903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6020" y="18653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23744" y="19019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6644" y="1865376"/>
            <a:ext cx="43212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4DDEB"/>
                </a:solidFill>
              </a:rPr>
              <a:t>Montrer</a:t>
            </a:r>
            <a:r>
              <a:rPr lang="en-US" sz="1500" dirty="0">
                <a:solidFill>
                  <a:srgbClr val="F4DDEB"/>
                </a:solidFill>
              </a:rPr>
              <a:t> le header et les 2 CTA principaux.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6292" y="2432304"/>
            <a:ext cx="4773903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6020" y="25420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23744" y="25786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6644" y="2542032"/>
            <a:ext cx="4163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avant Application et Commencer gratuitement.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6292" y="3108960"/>
            <a:ext cx="4773903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6020" y="32186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23744" y="32552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6644" y="3218688"/>
            <a:ext cx="40892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Tooltip: "Entre dans le studio pour creer ton premier morceau."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67738" y="1696305"/>
            <a:ext cx="6145141" cy="3488716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671008" y="1815364"/>
            <a:ext cx="5740908" cy="299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00699" y="4904914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hero Bloop avec CTA et header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67738" y="5331045"/>
            <a:ext cx="6145141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00699" y="540111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Ce que le dev doit produire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1056" y="5660229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Coachmark sur les deux CTA. Le clic sur l'un ou l'autre doit envoyer vers la bibliotheque / application selon l'etat de connexion.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3</a:t>
            </a:r>
            <a:endParaRPr lang="en-US" sz="900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EC193DB-A9AA-F4FC-ECCF-139A37A6F678}"/>
              </a:ext>
            </a:extLst>
          </p:cNvPr>
          <p:cNvSpPr/>
          <p:nvPr/>
        </p:nvSpPr>
        <p:spPr>
          <a:xfrm>
            <a:off x="8997696" y="1799110"/>
            <a:ext cx="664464" cy="3337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7505F42-0A37-D687-810B-2B9009A17FDB}"/>
              </a:ext>
            </a:extLst>
          </p:cNvPr>
          <p:cNvSpPr/>
          <p:nvPr/>
        </p:nvSpPr>
        <p:spPr>
          <a:xfrm>
            <a:off x="6376416" y="4375393"/>
            <a:ext cx="932688" cy="3337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913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Bibliotheque BloopSequencer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1157275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Ecran liste des projets apres connexion.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69854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21208" y="180827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8932" y="184484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" y="180827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L'utilisateur arrive sur sa bibliotheque de compositions </a:t>
            </a:r>
            <a:r>
              <a:rPr lang="en-US" sz="1500" dirty="0" err="1">
                <a:solidFill>
                  <a:srgbClr val="F4DDEB"/>
                </a:solidFill>
              </a:rPr>
              <a:t>initiale</a:t>
            </a:r>
            <a:r>
              <a:rPr lang="en-US" sz="1500" dirty="0">
                <a:solidFill>
                  <a:srgbClr val="F4DDEB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37520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21208" y="248492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8932" y="252150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" y="248492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Spotlight sur le bouton Nouveau projet.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05185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21208" y="316158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8932" y="319816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" y="316158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Texte d'accompagnement: "Creons un nouveau morceau ensemble.“ </a:t>
            </a:r>
            <a:r>
              <a:rPr lang="en-US" sz="1500" dirty="0" err="1">
                <a:solidFill>
                  <a:srgbClr val="F4DDEB"/>
                </a:solidFill>
              </a:rPr>
              <a:t>bulle</a:t>
            </a:r>
            <a:r>
              <a:rPr lang="en-US" sz="1500" dirty="0">
                <a:solidFill>
                  <a:srgbClr val="F4DDEB"/>
                </a:solidFill>
              </a:rPr>
              <a:t> de stan qui parle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67737" y="5334031"/>
            <a:ext cx="6145141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32329" y="5443759"/>
            <a:ext cx="57967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Comportement attendu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32329" y="5663215"/>
            <a:ext cx="5796755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Au clic sur Nouveau projet, creer un projet vide et ouvrir directement le sequenceur.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4</a:t>
            </a:r>
            <a:endParaRPr lang="en-US" sz="9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31F29545-974D-ACB5-014A-BFEAE8FF3A9A}"/>
              </a:ext>
            </a:extLst>
          </p:cNvPr>
          <p:cNvSpPr/>
          <p:nvPr/>
        </p:nvSpPr>
        <p:spPr>
          <a:xfrm>
            <a:off x="5467738" y="1696305"/>
            <a:ext cx="6145141" cy="3488716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C112BFAD-2329-70CC-A162-6F2A67A521F9}"/>
              </a:ext>
            </a:extLst>
          </p:cNvPr>
          <p:cNvSpPr/>
          <p:nvPr/>
        </p:nvSpPr>
        <p:spPr>
          <a:xfrm>
            <a:off x="5681056" y="1815364"/>
            <a:ext cx="5740908" cy="299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F07BE31-199C-E101-6047-FEC78942C904}"/>
              </a:ext>
            </a:extLst>
          </p:cNvPr>
          <p:cNvSpPr/>
          <p:nvPr/>
        </p:nvSpPr>
        <p:spPr>
          <a:xfrm>
            <a:off x="5600699" y="4904914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C6A7BA"/>
                </a:solidFill>
              </a:rPr>
              <a:t>Capture a </a:t>
            </a:r>
            <a:r>
              <a:rPr lang="en-US" sz="1000" i="1" dirty="0" err="1">
                <a:solidFill>
                  <a:srgbClr val="C6A7BA"/>
                </a:solidFill>
              </a:rPr>
              <a:t>inserer</a:t>
            </a:r>
            <a:r>
              <a:rPr lang="en-US" sz="1000" i="1" dirty="0">
                <a:solidFill>
                  <a:srgbClr val="C6A7BA"/>
                </a:solidFill>
              </a:rPr>
              <a:t>: </a:t>
            </a:r>
            <a:r>
              <a:rPr lang="en-US" sz="1000" i="1" dirty="0" err="1">
                <a:solidFill>
                  <a:srgbClr val="C6A7BA"/>
                </a:solidFill>
              </a:rPr>
              <a:t>liste</a:t>
            </a:r>
            <a:r>
              <a:rPr lang="en-US" sz="1000" i="1" dirty="0">
                <a:solidFill>
                  <a:srgbClr val="C6A7BA"/>
                </a:solidFill>
              </a:rPr>
              <a:t> des </a:t>
            </a:r>
            <a:r>
              <a:rPr lang="en-US" sz="1000" i="1" dirty="0" err="1">
                <a:solidFill>
                  <a:srgbClr val="C6A7BA"/>
                </a:solidFill>
              </a:rPr>
              <a:t>cartes</a:t>
            </a:r>
            <a:r>
              <a:rPr lang="en-US" sz="1000" i="1" dirty="0">
                <a:solidFill>
                  <a:srgbClr val="C6A7BA"/>
                </a:solidFill>
              </a:rPr>
              <a:t> </a:t>
            </a:r>
            <a:r>
              <a:rPr lang="en-US" sz="1000" i="1" dirty="0" err="1">
                <a:solidFill>
                  <a:srgbClr val="C6A7BA"/>
                </a:solidFill>
              </a:rPr>
              <a:t>projets</a:t>
            </a:r>
            <a:r>
              <a:rPr lang="en-US" sz="1000" i="1" dirty="0">
                <a:solidFill>
                  <a:srgbClr val="C6A7BA"/>
                </a:solidFill>
              </a:rPr>
              <a:t> + bouton Nouveau </a:t>
            </a:r>
            <a:r>
              <a:rPr lang="en-US" sz="1000" i="1" dirty="0" err="1">
                <a:solidFill>
                  <a:srgbClr val="C6A7BA"/>
                </a:solidFill>
              </a:rPr>
              <a:t>projet</a:t>
            </a:r>
            <a:endParaRPr lang="en-US" sz="1000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716B13A-7D00-D1F9-CE1C-2B5CBFA0C274}"/>
              </a:ext>
            </a:extLst>
          </p:cNvPr>
          <p:cNvSpPr/>
          <p:nvPr/>
        </p:nvSpPr>
        <p:spPr>
          <a:xfrm>
            <a:off x="9613392" y="2109008"/>
            <a:ext cx="729488" cy="4982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Sequenceur vide + pop-up de bienvenue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Premier ecran cle du tutoriel.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le sequenceur vide en arriere-plan.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Ouvrir automatiquement une modal de bienvenue.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Titre: "Bienvenue"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Message: "Cree ton premier morceau en 5 minutes"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" y="4114800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0372" y="4151376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" y="4114800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CTA principal: "Commencer"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15000" y="2395728"/>
            <a:ext cx="5897880" cy="3227832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UI modal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Fond assombri, carte centrale, progression a 0%. Fermeture possible mais proposer de reprendre plus tard dans les options.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5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B9FD9750-F473-D2F7-0DBC-B59FCF39A225}"/>
              </a:ext>
            </a:extLst>
          </p:cNvPr>
          <p:cNvSpPr/>
          <p:nvPr/>
        </p:nvSpPr>
        <p:spPr>
          <a:xfrm>
            <a:off x="5885120" y="2512847"/>
            <a:ext cx="5576316" cy="2971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Choix du mode d'onboarding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 clic sur Commencer, proposer un embranchement simple.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Question: "Comment veux-tu commencer 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Choix 1: Tuto guide simple pour creer un premier morceau.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Choix 2: Indication outils.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Choix 3: Tout decouvrir.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" y="4114800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0372" y="4151376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" y="4114800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On detaille d'abord le choix 1 dans ce deck.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15000" y="2350008"/>
            <a:ext cx="5897880" cy="3273552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Garder les 3 choix memorises pour pouvoir relancer plus tard un autre parcours sans refaire tout le flux.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6</a:t>
            </a:r>
            <a:endParaRPr lang="en-US" sz="9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0AC782F5-5336-ECEA-7681-ECE00F6F963C}"/>
              </a:ext>
            </a:extLst>
          </p:cNvPr>
          <p:cNvSpPr/>
          <p:nvPr/>
        </p:nvSpPr>
        <p:spPr>
          <a:xfrm>
            <a:off x="5890296" y="2518224"/>
            <a:ext cx="5576316" cy="2971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8949AFD-3EB4-40EE-6B16-31F95C5A9760}"/>
              </a:ext>
            </a:extLst>
          </p:cNvPr>
          <p:cNvSpPr/>
          <p:nvPr/>
        </p:nvSpPr>
        <p:spPr>
          <a:xfrm>
            <a:off x="690372" y="4988841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Choix 4: Passer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Etape guidee: bouton Ajouter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Debut du tuto simple pour creer un premier morceau.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Spotlight fort sur le bouton + Ajouter en haut a gauche.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Tooltip: "Ajoute une premiere piste pour demarrer ton morceau."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Bloquer visuellement les autres actions si necessaire.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25312" y="51206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5 - Sequenceur vide avec bouton Ajouter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96000" y="3584448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60592" y="3694176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Etat de progression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0592" y="3913632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Afficher une etape du type 1/8 ou 1/10 pour rassurer et donner le rythme.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7</a:t>
            </a:r>
            <a:endParaRPr lang="en-US" sz="900" dirty="0"/>
          </a:p>
        </p:txBody>
      </p:sp>
      <p:pic>
        <p:nvPicPr>
          <p:cNvPr id="25" name="Image 50">
            <a:extLst>
              <a:ext uri="{FF2B5EF4-FFF2-40B4-BE49-F238E27FC236}">
                <a16:creationId xmlns:a16="http://schemas.microsoft.com/office/drawing/2014/main" id="{14B6515F-6A9D-816D-0F4C-02CF0D8B6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20"/>
          <a:stretch>
            <a:fillRect/>
          </a:stretch>
        </p:blipFill>
        <p:spPr>
          <a:xfrm>
            <a:off x="8345172" y="2578608"/>
            <a:ext cx="1105152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deroulant des instruments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clic sur Ajouter ouvre la liste des pistes disponibles.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le menu deroulant tel qu'il existe dans l'application.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evidence l'option Sampler.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Tooltip: "Choisis Sampler pour poser des notes facilement."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" y="3639313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Dropdown instruments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Comportement attendu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tutoriel attend explicitement le clic sur Sampler avant de passer a l'etape suivante.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8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F3DDA59-5FA2-BCF5-87F5-6E476685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80" y="2265869"/>
            <a:ext cx="6040700" cy="2858545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7" name="Ellipse 32">
            <a:extLst>
              <a:ext uri="{FF2B5EF4-FFF2-40B4-BE49-F238E27FC236}">
                <a16:creationId xmlns:a16="http://schemas.microsoft.com/office/drawing/2014/main" id="{D1C2A4E6-7970-9155-5282-EFC39AB2545B}"/>
              </a:ext>
            </a:extLst>
          </p:cNvPr>
          <p:cNvSpPr/>
          <p:nvPr/>
        </p:nvSpPr>
        <p:spPr>
          <a:xfrm>
            <a:off x="5560568" y="2084832"/>
            <a:ext cx="729488" cy="4982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Piste Sampler creee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 selection de Sampler, une piste apparait dans le sequenceur.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Montrer la nouvelle piste Sampler 1 dans la colonne de gauche.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Indiquer les actions disponibles sur la piste.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Inviter a cliquer sur la fleche a cote de l'icone parametres.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9424"/>
            <a:ext cx="5897880" cy="3374136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Texte de guidance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Tooltip: "Ouvre le piano roll pour commencer a dessiner la melodie."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9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0D1AA79-5827-E720-BF99-11A3EF78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39" y="2460460"/>
            <a:ext cx="5623560" cy="2898648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8" name="Ellipse 32">
            <a:extLst>
              <a:ext uri="{FF2B5EF4-FFF2-40B4-BE49-F238E27FC236}">
                <a16:creationId xmlns:a16="http://schemas.microsoft.com/office/drawing/2014/main" id="{FA222060-FC95-3657-2C32-63F2E7A71DF2}"/>
              </a:ext>
            </a:extLst>
          </p:cNvPr>
          <p:cNvSpPr/>
          <p:nvPr/>
        </p:nvSpPr>
        <p:spPr>
          <a:xfrm>
            <a:off x="5966514" y="2823238"/>
            <a:ext cx="373326" cy="3238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Ouverture de l'editeur de notes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fleche a cote des parametres deploie la zone d'edition.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L'utilisateur voit le piano roll / grille de notes.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Les touches et la timeline deviennent visibles.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Inviter ensuite a cliquer sur l'icone Parametres.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2395728"/>
            <a:ext cx="5897880" cy="3227832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Point d'attention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coachmark doit desormais se deplacer sur l'icone engrenage pour garder le parcours lineaire.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10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874CD8AB-6376-3FAE-62DE-8FE7E9C4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39" y="2576572"/>
            <a:ext cx="5623560" cy="2898648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8" name="Ellipse 32">
            <a:extLst>
              <a:ext uri="{FF2B5EF4-FFF2-40B4-BE49-F238E27FC236}">
                <a16:creationId xmlns:a16="http://schemas.microsoft.com/office/drawing/2014/main" id="{A7D5F424-D8AF-0CE9-EEBD-0649766F3A74}"/>
              </a:ext>
            </a:extLst>
          </p:cNvPr>
          <p:cNvSpPr/>
          <p:nvPr/>
        </p:nvSpPr>
        <p:spPr>
          <a:xfrm>
            <a:off x="5947473" y="2987040"/>
            <a:ext cx="297053" cy="2537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Panneau Parametres du sampler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clic sur l'engrenage ouvre le panneau lateral.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volume, reverb, egaliseur et champ Instrument.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evidence le champ Instrument.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Instruction: "Choisis maintenant la flute."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2761488"/>
            <a:ext cx="5897880" cy="2862072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Etat guide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reste de l'interface peut etre assombri pour concentrer l'attention sur le panneau.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11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AB6C483-28CB-70FD-5F7E-0115A4521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953" y="2922249"/>
            <a:ext cx="5700703" cy="2552228"/>
          </a:xfrm>
          <a:prstGeom prst="rect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8" name="Ellipse 32">
            <a:extLst>
              <a:ext uri="{FF2B5EF4-FFF2-40B4-BE49-F238E27FC236}">
                <a16:creationId xmlns:a16="http://schemas.microsoft.com/office/drawing/2014/main" id="{5A282CEA-DC7A-6058-7285-C3954A64597A}"/>
              </a:ext>
            </a:extLst>
          </p:cNvPr>
          <p:cNvSpPr/>
          <p:nvPr/>
        </p:nvSpPr>
        <p:spPr>
          <a:xfrm>
            <a:off x="10636576" y="4078224"/>
            <a:ext cx="894080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Selection de l'instrument Flute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Personnalisation du premier son.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Dans le champ Instrument, remplacer le son actuel par flute.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Montrer l'etat cible avec l'instrument selectionne.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Inviter ensuite a fermer le panneau via la croix.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2926080"/>
            <a:ext cx="5897880" cy="2697480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meme panneau avec flute selectionnee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Message de soutien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Micro-copy: "Parfait, ton instrument est pret. Passons a la melodie."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12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DD5C9D3-D73E-B878-5081-D54058F38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134" y="3150184"/>
            <a:ext cx="5691611" cy="2043608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8" name="Ellipse 32">
            <a:extLst>
              <a:ext uri="{FF2B5EF4-FFF2-40B4-BE49-F238E27FC236}">
                <a16:creationId xmlns:a16="http://schemas.microsoft.com/office/drawing/2014/main" id="{ECDC2797-8B72-98B0-867A-1219AC3351ED}"/>
              </a:ext>
            </a:extLst>
          </p:cNvPr>
          <p:cNvSpPr/>
          <p:nvPr/>
        </p:nvSpPr>
        <p:spPr>
          <a:xfrm>
            <a:off x="10572496" y="4371726"/>
            <a:ext cx="894080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Retour a la grille et ajout des notes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L'utilisateur peut maintenant composer.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Fermer le panneau du sampler.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avant la grille de notes.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Inviter a poser quelques notes sur plusieurs temps.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Montrer un resultat cible proche de la capture fournie.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Aide contextuelle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Afficher une phrase courte: "Clique dans la grille pour ajouter des notes, puis ecoute au fur et a mesure."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13</a:t>
            </a:r>
            <a:endParaRPr lang="en-US" sz="9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329F9A46-3A4A-8547-6C84-62B5027A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605" y="2750312"/>
            <a:ext cx="6047753" cy="2549467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Renommer le projet et ecouter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morceau commence a prendre forme.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En haut de l'interface, remplacer Nouveau Projet par Mask_Off.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evidence le bouton Play.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Conseil: ecouter a mesure que l'on ajoute des notes.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Logique produit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renommage peut etre automatique dans le tuto ou demande a l'utilisateur selon le niveau de controle souhaite.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F64285-AF50-CECD-9875-89BC2517F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71333"/>
            <a:ext cx="6532880" cy="3094709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7" name="Ellipse 32">
            <a:extLst>
              <a:ext uri="{FF2B5EF4-FFF2-40B4-BE49-F238E27FC236}">
                <a16:creationId xmlns:a16="http://schemas.microsoft.com/office/drawing/2014/main" id="{538112FD-6901-DF42-AF97-1EBE91EBC03C}"/>
              </a:ext>
            </a:extLst>
          </p:cNvPr>
          <p:cNvSpPr/>
          <p:nvPr/>
        </p:nvSpPr>
        <p:spPr>
          <a:xfrm>
            <a:off x="11303000" y="1552956"/>
            <a:ext cx="894080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32">
            <a:extLst>
              <a:ext uri="{FF2B5EF4-FFF2-40B4-BE49-F238E27FC236}">
                <a16:creationId xmlns:a16="http://schemas.microsoft.com/office/drawing/2014/main" id="{393227E3-3FAA-34B3-1708-CCF4E5C3C6EE}"/>
              </a:ext>
            </a:extLst>
          </p:cNvPr>
          <p:cNvSpPr/>
          <p:nvPr/>
        </p:nvSpPr>
        <p:spPr>
          <a:xfrm>
            <a:off x="8281996" y="1616733"/>
            <a:ext cx="541964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Sauvegarder le projet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la premiere melodie convient, on enregistre.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Spotlight sur le bouton Sauvegarder.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Tooltip: "Enregistre ton debut de morceau dans ton projet Mask_Off."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Confirmer discretement que la sauvegarde est reussie.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13 - Bouton sauvegarder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sequenceur avec action Sauvegarder visible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Toast ou mini-etat succes conseille: "Projet enregistre". Eviter de casser le flux avec une grosse modal.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15</a:t>
            </a:r>
            <a:endParaRPr lang="en-US" sz="900" dirty="0"/>
          </a:p>
        </p:txBody>
      </p:sp>
      <p:pic>
        <p:nvPicPr>
          <p:cNvPr id="30" name="Image 30">
            <a:extLst>
              <a:ext uri="{FF2B5EF4-FFF2-40B4-BE49-F238E27FC236}">
                <a16:creationId xmlns:a16="http://schemas.microsoft.com/office/drawing/2014/main" id="{45A60D31-698E-D73F-CB40-323F83F7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63" y="2240280"/>
            <a:ext cx="6047753" cy="2549467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28" name="Ellipse 32">
            <a:extLst>
              <a:ext uri="{FF2B5EF4-FFF2-40B4-BE49-F238E27FC236}">
                <a16:creationId xmlns:a16="http://schemas.microsoft.com/office/drawing/2014/main" id="{96399804-1CF2-4355-42D2-89132BE4008A}"/>
              </a:ext>
            </a:extLst>
          </p:cNvPr>
          <p:cNvSpPr/>
          <p:nvPr/>
        </p:nvSpPr>
        <p:spPr>
          <a:xfrm>
            <a:off x="10515600" y="2106824"/>
            <a:ext cx="541964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Exporter en audio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est cree, place a l'export.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Mettre en evidence le bouton Exporter.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Expliquer que cela genere un fichier audio sur la machine.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Au clic, lancer un ecran / modal de progression.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14 - Bouton exporter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zone header avec Exporter en evidence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Comportement attendu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tutoriel reste actif pendant l'export et passe a l'etape suivante une fois l'audio genere.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16</a:t>
            </a:r>
            <a:endParaRPr lang="en-US" sz="900" dirty="0"/>
          </a:p>
        </p:txBody>
      </p:sp>
      <p:pic>
        <p:nvPicPr>
          <p:cNvPr id="24" name="Image 30">
            <a:extLst>
              <a:ext uri="{FF2B5EF4-FFF2-40B4-BE49-F238E27FC236}">
                <a16:creationId xmlns:a16="http://schemas.microsoft.com/office/drawing/2014/main" id="{CEE7F1C2-0985-6346-A7CB-961B5BAFA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63" y="2240280"/>
            <a:ext cx="6047753" cy="2549467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27" name="Ellipse 32">
            <a:extLst>
              <a:ext uri="{FF2B5EF4-FFF2-40B4-BE49-F238E27FC236}">
                <a16:creationId xmlns:a16="http://schemas.microsoft.com/office/drawing/2014/main" id="{62F63EB7-031F-5A7E-523D-28A8650621C0}"/>
              </a:ext>
            </a:extLst>
          </p:cNvPr>
          <p:cNvSpPr/>
          <p:nvPr/>
        </p:nvSpPr>
        <p:spPr>
          <a:xfrm>
            <a:off x="10887746" y="2158878"/>
            <a:ext cx="541964" cy="3456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Chargement de l'export audio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transitoire a illustrer clairement.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une modal de progression au centre.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Texte: "Export audio en cours..."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Animation de barre 0 -&gt; 100%.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 la fin: fichier audio disponible localement.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15 - Progression export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modal d'export avec pourcentage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Suggestion technique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L'animation peut etre simulee si le vrai temps d'export est variable. Terminer avec un etat succes rapide avant de reprendre le flow.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17</a:t>
            </a:r>
            <a:endParaRPr lang="en-US" sz="900" dirty="0"/>
          </a:p>
        </p:txBody>
      </p:sp>
      <p:pic>
        <p:nvPicPr>
          <p:cNvPr id="29" name="Image 24">
            <a:extLst>
              <a:ext uri="{FF2B5EF4-FFF2-40B4-BE49-F238E27FC236}">
                <a16:creationId xmlns:a16="http://schemas.microsoft.com/office/drawing/2014/main" id="{D5638DCB-7E49-BDEE-7F57-4E430306F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02536"/>
            <a:ext cx="5859286" cy="2761488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Felicitations apres premiere composition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 de recompense apres export reussi.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Ouvrir une modal de celebration.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Texte: "Bravo, vous avez fini votre premiere composition".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Indiquer la fleche / retour vers la bibliotheque des projets.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Maquette a produire: popup succes avec CTA retour bibliotheque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UX emotionnelle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Ajouter une petite animation, un check ou des confettis legers pour marquer le succes sans interrompre brutalement.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18</a:t>
            </a:r>
            <a:endParaRPr lang="en-US" sz="900" dirty="0"/>
          </a:p>
        </p:txBody>
      </p:sp>
      <p:pic>
        <p:nvPicPr>
          <p:cNvPr id="24" name="Image 30">
            <a:extLst>
              <a:ext uri="{FF2B5EF4-FFF2-40B4-BE49-F238E27FC236}">
                <a16:creationId xmlns:a16="http://schemas.microsoft.com/office/drawing/2014/main" id="{B024F550-9F57-D192-41DD-8003FC39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63" y="2240280"/>
            <a:ext cx="6047753" cy="2549467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26" name="Ellipse 32">
            <a:extLst>
              <a:ext uri="{FF2B5EF4-FFF2-40B4-BE49-F238E27FC236}">
                <a16:creationId xmlns:a16="http://schemas.microsoft.com/office/drawing/2014/main" id="{4537CC04-98A2-2FCC-8D88-AB630BE2F4DC}"/>
              </a:ext>
            </a:extLst>
          </p:cNvPr>
          <p:cNvSpPr/>
          <p:nvPr/>
        </p:nvSpPr>
        <p:spPr>
          <a:xfrm>
            <a:off x="5556649" y="2212848"/>
            <a:ext cx="316702" cy="2368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Retour bibliotheque + rendre public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existe maintenant dans la bibliotheque.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Revenir sur l'ecran BloopSequencer avec le projet visible.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Poser la question: "Veux-tu rendre ton projet public sur le reseau Bloop ?"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Si oui: montrer l'icone qui rend le projet public.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Puis guider vers l'onglet </a:t>
            </a:r>
            <a:r>
              <a:rPr lang="en-US" sz="1500" dirty="0" err="1">
                <a:solidFill>
                  <a:srgbClr val="F4DDEB"/>
                </a:solidFill>
              </a:rPr>
              <a:t>Decouvrir</a:t>
            </a:r>
            <a:r>
              <a:rPr lang="en-US" sz="1500" dirty="0">
                <a:solidFill>
                  <a:srgbClr val="F4DDEB"/>
                </a:solidFill>
              </a:rPr>
              <a:t> 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17 - Bibliotheque apres creation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projet visible dans la bibliotheque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Branchement 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Message cible dans Decouvrir: "Felicitations, votre projet est maintenant en ligne et accessible en lecture seule."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19</a:t>
            </a:r>
            <a:endParaRPr lang="en-US" sz="9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DAFDA8D-2CFB-DEBA-A3C0-C721D89F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37127"/>
            <a:ext cx="6123922" cy="2897927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30" name="Ellipse 32">
            <a:extLst>
              <a:ext uri="{FF2B5EF4-FFF2-40B4-BE49-F238E27FC236}">
                <a16:creationId xmlns:a16="http://schemas.microsoft.com/office/drawing/2014/main" id="{ABF77F5C-1DAD-2322-EA3D-FE63047CA7FC}"/>
              </a:ext>
            </a:extLst>
          </p:cNvPr>
          <p:cNvSpPr/>
          <p:nvPr/>
        </p:nvSpPr>
        <p:spPr>
          <a:xfrm>
            <a:off x="6891464" y="2989720"/>
            <a:ext cx="1106910" cy="12260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2">
            <a:extLst>
              <a:ext uri="{FF2B5EF4-FFF2-40B4-BE49-F238E27FC236}">
                <a16:creationId xmlns:a16="http://schemas.microsoft.com/office/drawing/2014/main" id="{14BD92A3-D44A-3B45-3474-04A028A743A3}"/>
              </a:ext>
            </a:extLst>
          </p:cNvPr>
          <p:cNvSpPr/>
          <p:nvPr/>
        </p:nvSpPr>
        <p:spPr>
          <a:xfrm>
            <a:off x="7683944" y="2850090"/>
            <a:ext cx="634470" cy="44458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Branchement alternatif: blog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personne ne passe pas par la publication projet, on peut la guider vers le blog.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Sinon, indiquer l'icone Blog dans le header.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L'objectif est de faire publier un premier post simple.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Le post peut contenir le lien du projet public ou un message court.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18 - Navigation vers blog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header avec onglet Blog mis en avant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Branchement 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Ce chemin peut aussi etre propose meme si le projet est deja public, pour encourager le partage social.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20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744330-2459-CB59-FB01-C8B8B35D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5" y="3505642"/>
            <a:ext cx="4118826" cy="2465390"/>
          </a:xfrm>
          <a:prstGeom prst="rect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6" name="Image 28">
            <a:extLst>
              <a:ext uri="{FF2B5EF4-FFF2-40B4-BE49-F238E27FC236}">
                <a16:creationId xmlns:a16="http://schemas.microsoft.com/office/drawing/2014/main" id="{00391482-CDF9-CFB2-19C9-C006B3096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132969"/>
            <a:ext cx="6123922" cy="2897927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8" name="Ellipse 32">
            <a:extLst>
              <a:ext uri="{FF2B5EF4-FFF2-40B4-BE49-F238E27FC236}">
                <a16:creationId xmlns:a16="http://schemas.microsoft.com/office/drawing/2014/main" id="{B7AC9078-1E4B-DAE8-0213-FE21FDFCDDA7}"/>
              </a:ext>
            </a:extLst>
          </p:cNvPr>
          <p:cNvSpPr/>
          <p:nvPr/>
        </p:nvSpPr>
        <p:spPr>
          <a:xfrm>
            <a:off x="9881130" y="2017986"/>
            <a:ext cx="634470" cy="44458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Blog pre-rempli et premier post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Derniere action accompagnee avant autonomie.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la page blog avec formulaire de nouveau post.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Pre-remplir le contenu avec le lien du projet + message "salut".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Ajouter le tag #noob.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Inviter a cliquer sur Poster.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1325880"/>
            <a:ext cx="5897880" cy="4297680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852160" y="1463040"/>
            <a:ext cx="5623560" cy="3822192"/>
          </a:xfrm>
          <a:prstGeom prst="rect">
            <a:avLst/>
          </a:prstGeom>
          <a:solidFill>
            <a:srgbClr val="23101D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19 - Page blog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Capture a inserer: page blog avec zone contenu, tags et bouton Poster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Detail de contenu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pre-remplissage peut etre editable. Exemple: lien du projet en premiere ligne, puis "salut" et le tag #noob.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21</a:t>
            </a:r>
            <a:endParaRPr lang="en-US" sz="9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9A67FC40-7896-262D-EAE5-915057CCD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142" y="2395728"/>
            <a:ext cx="5232178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Confettis finaux et suites possibles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Cloture du tutoriel + ouverture sur les autres parcours.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40817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90372" y="144475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40817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Afficher un ecran de fin avec confettis.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12648" y="208483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0372" y="212140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Message: "Felicitations, tu es pret a naviguer tout seul."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90372" y="279806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Proposer 4 options de suite.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" y="347472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3438144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1. Reprendre le tuto guide simple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" y="4114800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0372" y="4151376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" y="4114800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2. Lancer un tuto avance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68172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4101E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2648" y="4791456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90372" y="482803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" y="4791456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3. Voir les indications outils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5358384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3A1730"/>
          </a:solidFill>
          <a:ln w="12700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2648" y="5468112"/>
            <a:ext cx="329184" cy="329184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90372" y="550468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3272" y="5468112"/>
            <a:ext cx="4233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DDEB"/>
                </a:solidFill>
              </a:rPr>
              <a:t>4. Tout decouvrir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715000" y="1325880"/>
            <a:ext cx="5897880" cy="4297680"/>
          </a:xfrm>
          <a:prstGeom prst="rect">
            <a:avLst/>
          </a:prstGeom>
          <a:solidFill>
            <a:srgbClr val="120A12"/>
          </a:solidFill>
          <a:ln w="15875">
            <a:solidFill>
              <a:srgbClr val="7C30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035040" y="3246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FB"/>
                </a:solidFill>
              </a:rPr>
              <a:t>Capture 20 - Celebration finale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15000" y="5367528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6A7BA"/>
                </a:solidFill>
              </a:rPr>
              <a:t>Maquette a produire: popup finale avec 4 options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5760720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925312" y="5870448"/>
            <a:ext cx="5477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Persistance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25312" y="6089904"/>
            <a:ext cx="5477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Conserver cet ecran comme hub d'apprentissage accessible plus tard depuis l'application.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Notes d'implementation pour les developpeurs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 des comportements transverses a conserver sur tout le parcours.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1. Spotlight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700784"/>
            <a:ext cx="3236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Utiliser un masque un peu plus </a:t>
            </a:r>
            <a:r>
              <a:rPr lang="en-US" sz="1100" dirty="0" err="1">
                <a:solidFill>
                  <a:srgbClr val="F4DDEB"/>
                </a:solidFill>
              </a:rPr>
              <a:t>sombre</a:t>
            </a:r>
            <a:r>
              <a:rPr lang="en-US" sz="1100" dirty="0">
                <a:solidFill>
                  <a:srgbClr val="F4DDEB"/>
                </a:solidFill>
              </a:rPr>
              <a:t> et  avec zone </a:t>
            </a:r>
            <a:r>
              <a:rPr lang="en-US" sz="1100" dirty="0" err="1">
                <a:solidFill>
                  <a:srgbClr val="F4DDEB"/>
                </a:solidFill>
              </a:rPr>
              <a:t>cible</a:t>
            </a:r>
            <a:r>
              <a:rPr lang="en-US" sz="1100" dirty="0">
                <a:solidFill>
                  <a:srgbClr val="F4DDEB"/>
                </a:solidFill>
              </a:rPr>
              <a:t> par un cercle . Bloquer ou desactiver les clics parasites sur les zones hors tutoriel selon les etapes.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62272" y="148132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2. Tooltip / coachmark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62272" y="1700784"/>
            <a:ext cx="3236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Toujours </a:t>
            </a:r>
            <a:r>
              <a:rPr lang="en-US" sz="1100" dirty="0" err="1">
                <a:solidFill>
                  <a:srgbClr val="F4DDEB"/>
                </a:solidFill>
              </a:rPr>
              <a:t>afficher</a:t>
            </a:r>
            <a:r>
              <a:rPr lang="en-US" sz="1100" dirty="0">
                <a:solidFill>
                  <a:srgbClr val="F4DDEB"/>
                </a:solidFill>
              </a:rPr>
              <a:t> les  consigne courte, et </a:t>
            </a:r>
            <a:r>
              <a:rPr lang="en-US" sz="1100" dirty="0" err="1">
                <a:solidFill>
                  <a:srgbClr val="F4DDEB"/>
                </a:solidFill>
              </a:rPr>
              <a:t>idealement</a:t>
            </a:r>
            <a:r>
              <a:rPr lang="en-US" sz="1100" dirty="0">
                <a:solidFill>
                  <a:srgbClr val="F4DDEB"/>
                </a:solidFill>
              </a:rPr>
              <a:t> le resultat attendu apres clic.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11312" y="148132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3. Progression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312" y="1700784"/>
            <a:ext cx="3236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Afficher le numero d'etape, avec possibilite de quitter ou reprendre.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13232" y="299008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4. Etats de succes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209544"/>
            <a:ext cx="32369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Sauvegarde, export et publication doivent produire un feedback visible: toast, check, ou mini-modal de confirmation avec stan , des </a:t>
            </a:r>
            <a:r>
              <a:rPr lang="en-US" sz="1100" dirty="0" err="1">
                <a:solidFill>
                  <a:srgbClr val="F4DDEB"/>
                </a:solidFill>
              </a:rPr>
              <a:t>confettis</a:t>
            </a:r>
            <a:r>
              <a:rPr lang="en-US" sz="1100" dirty="0">
                <a:solidFill>
                  <a:srgbClr val="F4DDEB"/>
                </a:solidFill>
              </a:rPr>
              <a:t> ….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880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462272" y="299008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5. Branches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3209544"/>
            <a:ext cx="32369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Le flux doit gerer oui/non pour publication, plus les alternatives Outils, Tuto avance et Tout decouvrir.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88036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5D2448"/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11312" y="299008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6. Reprise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3209544"/>
            <a:ext cx="32369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DDEB"/>
                </a:solidFill>
              </a:rPr>
              <a:t>Si le user quitte en cours de route, memoriser l'etape atteinte et proposer Reprendre le </a:t>
            </a:r>
            <a:r>
              <a:rPr lang="en-US" sz="1100" dirty="0" err="1">
                <a:solidFill>
                  <a:srgbClr val="F4DDEB"/>
                </a:solidFill>
              </a:rPr>
              <a:t>tutoriel</a:t>
            </a:r>
            <a:r>
              <a:rPr lang="en-US" sz="1100" dirty="0">
                <a:solidFill>
                  <a:srgbClr val="F4DDEB"/>
                </a:solidFill>
              </a:rPr>
              <a:t> à la </a:t>
            </a:r>
            <a:r>
              <a:rPr lang="en-US" sz="1100" dirty="0" err="1">
                <a:solidFill>
                  <a:srgbClr val="F4DDEB"/>
                </a:solidFill>
              </a:rPr>
              <a:t>prochaine</a:t>
            </a:r>
            <a:r>
              <a:rPr lang="en-US" sz="1100" dirty="0">
                <a:solidFill>
                  <a:srgbClr val="F4DDEB"/>
                </a:solidFill>
              </a:rPr>
              <a:t> </a:t>
            </a:r>
            <a:r>
              <a:rPr lang="en-US" sz="1100" dirty="0" err="1">
                <a:solidFill>
                  <a:srgbClr val="F4DDEB"/>
                </a:solidFill>
              </a:rPr>
              <a:t>connexion</a:t>
            </a:r>
            <a:r>
              <a:rPr lang="en-US" sz="1100" dirty="0">
                <a:solidFill>
                  <a:srgbClr val="F4DDEB"/>
                </a:solidFill>
              </a:rPr>
              <a:t>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81160" y="6446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6A7BA"/>
                </a:solidFill>
              </a:rPr>
              <a:t>Slide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2129</Words>
  <Application>Microsoft Office PowerPoint</Application>
  <PresentationFormat>Widescreen</PresentationFormat>
  <Paragraphs>339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Parcours onboarding Bloop</dc:title>
  <dc:subject>Parcours onboarding Bloop</dc:subject>
  <dc:creator>OpenAI</dc:creator>
  <cp:lastModifiedBy>Sara YEO</cp:lastModifiedBy>
  <cp:revision>2</cp:revision>
  <dcterms:created xsi:type="dcterms:W3CDTF">2026-06-19T11:30:07Z</dcterms:created>
  <dcterms:modified xsi:type="dcterms:W3CDTF">2026-07-09T10:33:50Z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983ceb-12ac-4e58-b970-c9db5b99937f_Enabled">
    <vt:lpwstr>true</vt:lpwstr>
  </property>
  <property fmtid="{D5CDD505-2E9C-101B-9397-08002B2CF9AE}" pid="3" name="MSIP_Label_db983ceb-12ac-4e58-b970-c9db5b99937f_SetDate">
    <vt:lpwstr>2026-07-09T09:56:07Z</vt:lpwstr>
  </property>
  <property fmtid="{D5CDD505-2E9C-101B-9397-08002B2CF9AE}" pid="4" name="MSIP_Label_db983ceb-12ac-4e58-b970-c9db5b99937f_Method">
    <vt:lpwstr>Standard</vt:lpwstr>
  </property>
  <property fmtid="{D5CDD505-2E9C-101B-9397-08002B2CF9AE}" pid="5" name="MSIP_Label_db983ceb-12ac-4e58-b970-c9db5b99937f_Name">
    <vt:lpwstr>Public</vt:lpwstr>
  </property>
  <property fmtid="{D5CDD505-2E9C-101B-9397-08002B2CF9AE}" pid="6" name="MSIP_Label_db983ceb-12ac-4e58-b970-c9db5b99937f_SiteId">
    <vt:lpwstr>ef42e24c-4bec-4cd2-9c8d-a78ca289b0f5</vt:lpwstr>
  </property>
  <property fmtid="{D5CDD505-2E9C-101B-9397-08002B2CF9AE}" pid="7" name="MSIP_Label_db983ceb-12ac-4e58-b970-c9db5b99937f_ActionId">
    <vt:lpwstr>24353014-20f3-49af-bf38-e9cd71d15b3e</vt:lpwstr>
  </property>
  <property fmtid="{D5CDD505-2E9C-101B-9397-08002B2CF9AE}" pid="8" name="MSIP_Label_db983ceb-12ac-4e58-b970-c9db5b99937f_ContentBits">
    <vt:lpwstr>0</vt:lpwstr>
  </property>
  <property fmtid="{D5CDD505-2E9C-101B-9397-08002B2CF9AE}" pid="9" name="MSIP_Label_db983ceb-12ac-4e58-b970-c9db5b99937f_Tag">
    <vt:lpwstr>10, 3, 0, 1</vt:lpwstr>
  </property>
</Properties>
</file>